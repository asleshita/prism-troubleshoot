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18"/>
    </p:embeddedFont>
    <p:embeddedFont>
      <p:font typeface="Cormorant Garamond" charset="1" panose="00000500000000000000"/>
      <p:regular r:id="rId19"/>
    </p:embeddedFont>
    <p:embeddedFont>
      <p:font typeface="CanvaSansSC-Regular" charset="1" panose="00000000000000000000"/>
      <p:regular r:id="rId20"/>
    </p:embeddedFont>
    <p:embeddedFont>
      <p:font typeface="Archivo Black" charset="1" panose="020B0A03020202020B04"/>
      <p:regular r:id="rId21"/>
    </p:embeddedFont>
    <p:embeddedFont>
      <p:font typeface="Cinzel Bold" charset="1" panose="00000800000000000000"/>
      <p:regular r:id="rId22"/>
    </p:embeddedFont>
    <p:embeddedFont>
      <p:font typeface="Calibri (MS)" charset="1" panose="020F0502020204030204"/>
      <p:regular r:id="rId23"/>
    </p:embeddedFont>
    <p:embeddedFont>
      <p:font typeface="Calibri (MS) Bold" charset="1" panose="020F0702030404030204"/>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svg" Type="http://schemas.openxmlformats.org/officeDocument/2006/relationships/image"/><Relationship Id="rId6" Target="../media/image5.svg" Type="http://schemas.openxmlformats.org/officeDocument/2006/relationships/image"/><Relationship Id="rId7" Target="../media/image6.svg" Type="http://schemas.openxmlformats.org/officeDocument/2006/relationships/image"/><Relationship Id="rId8" Target="../media/image7.sv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92832" y="941956"/>
            <a:ext cx="3781425" cy="666750"/>
            <a:chOff x="0" y="0"/>
            <a:chExt cx="5041900" cy="889000"/>
          </a:xfrm>
        </p:grpSpPr>
        <p:sp>
          <p:nvSpPr>
            <p:cNvPr name="Freeform 3" id="3"/>
            <p:cNvSpPr/>
            <p:nvPr/>
          </p:nvSpPr>
          <p:spPr>
            <a:xfrm flipH="false" flipV="false" rot="0">
              <a:off x="0" y="0"/>
              <a:ext cx="5041900" cy="889000"/>
            </a:xfrm>
            <a:custGeom>
              <a:avLst/>
              <a:gdLst/>
              <a:ahLst/>
              <a:cxnLst/>
              <a:rect r="r" b="b" t="t" l="l"/>
              <a:pathLst>
                <a:path h="889000" w="5041900">
                  <a:moveTo>
                    <a:pt x="0" y="0"/>
                  </a:moveTo>
                  <a:lnTo>
                    <a:pt x="5041900" y="0"/>
                  </a:lnTo>
                  <a:lnTo>
                    <a:pt x="5041900" y="889000"/>
                  </a:lnTo>
                  <a:lnTo>
                    <a:pt x="0" y="889000"/>
                  </a:lnTo>
                  <a:lnTo>
                    <a:pt x="0" y="0"/>
                  </a:lnTo>
                  <a:close/>
                </a:path>
              </a:pathLst>
            </a:custGeom>
            <a:blipFill>
              <a:blip r:embed="rId2"/>
              <a:stretch>
                <a:fillRect l="0" t="-311" r="0" b="-309"/>
              </a:stretch>
            </a:blipFill>
          </p:spPr>
        </p:sp>
      </p:grpSp>
      <p:sp>
        <p:nvSpPr>
          <p:cNvPr name="Freeform 4" id="4"/>
          <p:cNvSpPr/>
          <p:nvPr/>
        </p:nvSpPr>
        <p:spPr>
          <a:xfrm flipH="false" flipV="false" rot="0">
            <a:off x="1337310" y="508901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37310" y="5422392"/>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37310" y="575576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37310" y="642251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7310" y="708926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337310" y="775601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37310" y="8422767"/>
            <a:ext cx="85725" cy="85725"/>
          </a:xfrm>
          <a:custGeom>
            <a:avLst/>
            <a:gdLst/>
            <a:ahLst/>
            <a:cxnLst/>
            <a:rect r="r" b="b" t="t" l="l"/>
            <a:pathLst>
              <a:path h="85725" w="85725">
                <a:moveTo>
                  <a:pt x="0" y="0"/>
                </a:moveTo>
                <a:lnTo>
                  <a:pt x="85725" y="0"/>
                </a:lnTo>
                <a:lnTo>
                  <a:pt x="85725" y="85725"/>
                </a:lnTo>
                <a:lnTo>
                  <a:pt x="0" y="85725"/>
                </a:lnTo>
                <a:lnTo>
                  <a:pt x="0" y="0"/>
                </a:lnTo>
                <a:close/>
              </a:path>
            </a:pathLst>
          </a:custGeom>
          <a:blipFill>
            <a:blip r:embed="rId3">
              <a:extLst>
                <a:ext uri="{96DAC541-7B7A-43D3-8B79-37D633B846F1}">
                  <asvg:svgBlip xmlns:asvg="http://schemas.microsoft.com/office/drawing/2016/SVG/main" r:embed="rId10"/>
                </a:ext>
              </a:extLst>
            </a:blip>
            <a:stretch>
              <a:fillRect l="0" t="0" r="0" b="0"/>
            </a:stretch>
          </a:blipFill>
        </p:spPr>
      </p:sp>
      <p:grpSp>
        <p:nvGrpSpPr>
          <p:cNvPr name="Group 11" id="11"/>
          <p:cNvGrpSpPr/>
          <p:nvPr/>
        </p:nvGrpSpPr>
        <p:grpSpPr>
          <a:xfrm rot="0">
            <a:off x="10588752" y="1577340"/>
            <a:ext cx="6858000" cy="6858000"/>
            <a:chOff x="0" y="0"/>
            <a:chExt cx="9144000" cy="9144000"/>
          </a:xfrm>
        </p:grpSpPr>
        <p:sp>
          <p:nvSpPr>
            <p:cNvPr name="Freeform 12" id="12"/>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11"/>
              <a:stretch>
                <a:fillRect l="0" t="0" r="0" b="0"/>
              </a:stretch>
            </a:blipFill>
          </p:spPr>
        </p:sp>
      </p:grpSp>
      <p:grpSp>
        <p:nvGrpSpPr>
          <p:cNvPr name="Group 13" id="13"/>
          <p:cNvGrpSpPr/>
          <p:nvPr/>
        </p:nvGrpSpPr>
        <p:grpSpPr>
          <a:xfrm rot="0">
            <a:off x="435493" y="627574"/>
            <a:ext cx="17402175" cy="9067800"/>
            <a:chOff x="0" y="0"/>
            <a:chExt cx="23202900" cy="12090400"/>
          </a:xfrm>
        </p:grpSpPr>
        <p:sp>
          <p:nvSpPr>
            <p:cNvPr name="Freeform 14" id="14"/>
            <p:cNvSpPr/>
            <p:nvPr/>
          </p:nvSpPr>
          <p:spPr>
            <a:xfrm flipH="false" flipV="false" rot="0">
              <a:off x="0" y="0"/>
              <a:ext cx="23202900" cy="12090400"/>
            </a:xfrm>
            <a:custGeom>
              <a:avLst/>
              <a:gdLst/>
              <a:ahLst/>
              <a:cxnLst/>
              <a:rect r="r" b="b" t="t" l="l"/>
              <a:pathLst>
                <a:path h="12090400" w="23202900">
                  <a:moveTo>
                    <a:pt x="0" y="0"/>
                  </a:moveTo>
                  <a:lnTo>
                    <a:pt x="23202900" y="0"/>
                  </a:lnTo>
                  <a:lnTo>
                    <a:pt x="23202900" y="12090400"/>
                  </a:lnTo>
                  <a:lnTo>
                    <a:pt x="0" y="12090400"/>
                  </a:lnTo>
                  <a:lnTo>
                    <a:pt x="0" y="0"/>
                  </a:lnTo>
                  <a:close/>
                </a:path>
              </a:pathLst>
            </a:custGeom>
            <a:blipFill>
              <a:blip r:embed="rId12"/>
              <a:stretch>
                <a:fillRect l="0" t="-58" r="0" b="-58"/>
              </a:stretch>
            </a:blipFill>
          </p:spPr>
        </p:sp>
      </p:grpSp>
      <p:sp>
        <p:nvSpPr>
          <p:cNvPr name="TextBox 15" id="15"/>
          <p:cNvSpPr txBox="true"/>
          <p:nvPr/>
        </p:nvSpPr>
        <p:spPr>
          <a:xfrm rot="0">
            <a:off x="1960959" y="1032529"/>
            <a:ext cx="2085289" cy="418576"/>
          </a:xfrm>
          <a:prstGeom prst="rect">
            <a:avLst/>
          </a:prstGeom>
        </p:spPr>
        <p:txBody>
          <a:bodyPr anchor="t" rtlCol="false" tIns="0" lIns="0" bIns="0" rIns="0">
            <a:spAutoFit/>
          </a:bodyPr>
          <a:lstStyle/>
          <a:p>
            <a:pPr algn="l">
              <a:lnSpc>
                <a:spcPts val="2310"/>
              </a:lnSpc>
            </a:pPr>
            <a:r>
              <a:rPr lang="en-US" b="true" sz="1650" spc="165">
                <a:solidFill>
                  <a:srgbClr val="6D28D9"/>
                </a:solidFill>
                <a:latin typeface="Arial Bold"/>
                <a:ea typeface="Arial Bold"/>
                <a:cs typeface="Arial Bold"/>
                <a:sym typeface="Arial Bold"/>
              </a:rPr>
              <a:t>SAMSUNG PRISM</a:t>
            </a:r>
          </a:p>
        </p:txBody>
      </p:sp>
      <p:sp>
        <p:nvSpPr>
          <p:cNvPr name="TextBox 16" id="16"/>
          <p:cNvSpPr txBox="true"/>
          <p:nvPr/>
        </p:nvSpPr>
        <p:spPr>
          <a:xfrm rot="0">
            <a:off x="1380173" y="1726378"/>
            <a:ext cx="4915157" cy="1310069"/>
          </a:xfrm>
          <a:prstGeom prst="rect">
            <a:avLst/>
          </a:prstGeom>
        </p:spPr>
        <p:txBody>
          <a:bodyPr anchor="t" rtlCol="false" tIns="0" lIns="0" bIns="0" rIns="0">
            <a:spAutoFit/>
          </a:bodyPr>
          <a:lstStyle/>
          <a:p>
            <a:pPr algn="l">
              <a:lnSpc>
                <a:spcPts val="8239"/>
              </a:lnSpc>
            </a:pPr>
            <a:r>
              <a:rPr lang="en-US" sz="5885" b="true">
                <a:solidFill>
                  <a:srgbClr val="14142B"/>
                </a:solidFill>
                <a:latin typeface="Arial Bold"/>
                <a:ea typeface="Arial Bold"/>
                <a:cs typeface="Arial Bold"/>
                <a:sym typeface="Arial Bold"/>
              </a:rPr>
              <a:t>Generative AI</a:t>
            </a:r>
          </a:p>
        </p:txBody>
      </p:sp>
      <p:sp>
        <p:nvSpPr>
          <p:cNvPr name="TextBox 17" id="17"/>
          <p:cNvSpPr txBox="true"/>
          <p:nvPr/>
        </p:nvSpPr>
        <p:spPr>
          <a:xfrm rot="0">
            <a:off x="1563976" y="4973507"/>
            <a:ext cx="6750739" cy="3870122"/>
          </a:xfrm>
          <a:prstGeom prst="rect">
            <a:avLst/>
          </a:prstGeom>
        </p:spPr>
        <p:txBody>
          <a:bodyPr anchor="t" rtlCol="false" tIns="0" lIns="0" bIns="0" rIns="0">
            <a:spAutoFit/>
          </a:bodyPr>
          <a:lstStyle/>
          <a:p>
            <a:pPr algn="l">
              <a:lnSpc>
                <a:spcPts val="2548"/>
              </a:lnSpc>
            </a:pPr>
            <a:r>
              <a:rPr lang="en-US" sz="2199">
                <a:solidFill>
                  <a:srgbClr val="000000"/>
                </a:solidFill>
                <a:latin typeface="Cormorant Garamond"/>
                <a:ea typeface="Cormorant Garamond"/>
                <a:cs typeface="Cormorant Garamond"/>
                <a:sym typeface="Cormorant Garamond"/>
              </a:rPr>
              <a:t>Theme ID - Theme 2 (SmartGuided TroubleshootingEngine) Team Name - Code &amp; Chill_SRM</a:t>
            </a:r>
          </a:p>
          <a:p>
            <a:pPr algn="l">
              <a:lnSpc>
                <a:spcPts val="2548"/>
              </a:lnSpc>
            </a:pPr>
            <a:r>
              <a:rPr lang="en-US" sz="2199">
                <a:solidFill>
                  <a:srgbClr val="000000"/>
                </a:solidFill>
                <a:latin typeface="Cormorant Garamond"/>
                <a:ea typeface="Cormorant Garamond"/>
                <a:cs typeface="Cormorant Garamond"/>
                <a:sym typeface="Cormorant Garamond"/>
              </a:rPr>
              <a:t>College Name - SRM UNIVERSITY OF SCIENCE AND TECHNOLOGY </a:t>
            </a:r>
          </a:p>
          <a:p>
            <a:pPr algn="l">
              <a:lnSpc>
                <a:spcPts val="2548"/>
              </a:lnSpc>
            </a:pPr>
            <a:r>
              <a:rPr lang="en-US" sz="2199">
                <a:solidFill>
                  <a:srgbClr val="000000"/>
                </a:solidFill>
                <a:latin typeface="Cormorant Garamond"/>
                <a:ea typeface="Cormorant Garamond"/>
                <a:cs typeface="Cormorant Garamond"/>
                <a:sym typeface="Cormorant Garamond"/>
              </a:rPr>
              <a:t>Team Lead Name &amp; Email 1 - Asleshita Tuduku (asleshita.t@gmail.com)</a:t>
            </a:r>
          </a:p>
          <a:p>
            <a:pPr algn="l">
              <a:lnSpc>
                <a:spcPts val="2548"/>
              </a:lnSpc>
            </a:pPr>
            <a:r>
              <a:rPr lang="en-US" sz="2199">
                <a:solidFill>
                  <a:srgbClr val="000000"/>
                </a:solidFill>
                <a:latin typeface="Cormorant Garamond"/>
                <a:ea typeface="Cormorant Garamond"/>
                <a:cs typeface="Cormorant Garamond"/>
                <a:sym typeface="Cormorant Garamond"/>
              </a:rPr>
              <a:t>Member Name &amp; Email 2 - Dhruthi (dhruti.p.2007@gmail.com)</a:t>
            </a:r>
          </a:p>
          <a:p>
            <a:pPr algn="l">
              <a:lnSpc>
                <a:spcPts val="2548"/>
              </a:lnSpc>
            </a:pPr>
            <a:r>
              <a:rPr lang="en-US" sz="2199">
                <a:solidFill>
                  <a:srgbClr val="000000"/>
                </a:solidFill>
                <a:latin typeface="Cormorant Garamond"/>
                <a:ea typeface="Cormorant Garamond"/>
                <a:cs typeface="Cormorant Garamond"/>
                <a:sym typeface="Cormorant Garamond"/>
              </a:rPr>
              <a:t>Member Name &amp; Email 3 - Bhavya Sri (bsri110725@gmail.com)</a:t>
            </a:r>
          </a:p>
          <a:p>
            <a:pPr algn="l">
              <a:lnSpc>
                <a:spcPts val="2548"/>
              </a:lnSpc>
            </a:pPr>
            <a:r>
              <a:rPr lang="en-US" sz="2199">
                <a:solidFill>
                  <a:srgbClr val="000000"/>
                </a:solidFill>
                <a:latin typeface="Cormorant Garamond"/>
                <a:ea typeface="Cormorant Garamond"/>
                <a:cs typeface="Cormorant Garamond"/>
                <a:sym typeface="Cormorant Garamond"/>
              </a:rPr>
              <a:t>Submission Github link - https://github.com/Asleshita/prism-troubleshoot</a:t>
            </a:r>
          </a:p>
        </p:txBody>
      </p:sp>
      <p:sp>
        <p:nvSpPr>
          <p:cNvPr name="TextBox 18" id="18"/>
          <p:cNvSpPr txBox="true"/>
          <p:nvPr/>
        </p:nvSpPr>
        <p:spPr>
          <a:xfrm rot="0">
            <a:off x="1469365" y="2366543"/>
            <a:ext cx="3513087" cy="1306201"/>
          </a:xfrm>
          <a:prstGeom prst="rect">
            <a:avLst/>
          </a:prstGeom>
        </p:spPr>
        <p:txBody>
          <a:bodyPr anchor="t" rtlCol="false" tIns="0" lIns="0" bIns="0" rIns="0">
            <a:spAutoFit/>
          </a:bodyPr>
          <a:lstStyle/>
          <a:p>
            <a:pPr algn="l">
              <a:lnSpc>
                <a:spcPts val="7279"/>
              </a:lnSpc>
            </a:pPr>
            <a:r>
              <a:rPr lang="en-US" sz="5198">
                <a:solidFill>
                  <a:srgbClr val="6D28D9"/>
                </a:solidFill>
                <a:latin typeface="CanvaSansSC-Regular"/>
                <a:ea typeface="CanvaSansSC-Regular"/>
                <a:cs typeface="CanvaSansSC-Regular"/>
                <a:sym typeface="CanvaSansSC-Regular"/>
              </a:rPr>
              <a:t>Hackathon</a:t>
            </a:r>
          </a:p>
        </p:txBody>
      </p:sp>
      <p:sp>
        <p:nvSpPr>
          <p:cNvPr name="TextBox 19" id="19"/>
          <p:cNvSpPr txBox="true"/>
          <p:nvPr/>
        </p:nvSpPr>
        <p:spPr>
          <a:xfrm rot="0">
            <a:off x="1423035" y="3707244"/>
            <a:ext cx="4404874" cy="661406"/>
          </a:xfrm>
          <a:prstGeom prst="rect">
            <a:avLst/>
          </a:prstGeom>
        </p:spPr>
        <p:txBody>
          <a:bodyPr anchor="t" rtlCol="false" tIns="0" lIns="0" bIns="0" rIns="0">
            <a:spAutoFit/>
          </a:bodyPr>
          <a:lstStyle/>
          <a:p>
            <a:pPr algn="l">
              <a:lnSpc>
                <a:spcPts val="4339"/>
              </a:lnSpc>
            </a:pPr>
            <a:r>
              <a:rPr lang="en-US" sz="3099">
                <a:solidFill>
                  <a:srgbClr val="000000"/>
                </a:solidFill>
                <a:latin typeface="Archivo Black"/>
                <a:ea typeface="Archivo Black"/>
                <a:cs typeface="Archivo Black"/>
                <a:sym typeface="Archivo Black"/>
              </a:rPr>
              <a:t>3rdEdition 2026-27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7845" y="576605"/>
            <a:ext cx="16539381" cy="8846791"/>
          </a:xfrm>
          <a:custGeom>
            <a:avLst/>
            <a:gdLst/>
            <a:ahLst/>
            <a:cxnLst/>
            <a:rect r="r" b="b" t="t" l="l"/>
            <a:pathLst>
              <a:path h="8846791" w="16539381">
                <a:moveTo>
                  <a:pt x="0" y="0"/>
                </a:moveTo>
                <a:lnTo>
                  <a:pt x="16539381" y="0"/>
                </a:lnTo>
                <a:lnTo>
                  <a:pt x="16539381" y="8846792"/>
                </a:lnTo>
                <a:lnTo>
                  <a:pt x="0" y="8846792"/>
                </a:lnTo>
                <a:lnTo>
                  <a:pt x="0" y="0"/>
                </a:lnTo>
                <a:close/>
              </a:path>
            </a:pathLst>
          </a:custGeom>
          <a:blipFill>
            <a:blip r:embed="rId2">
              <a:extLst>
                <a:ext uri="{96DAC541-7B7A-43D3-8B79-37D633B846F1}">
                  <asvg:svgBlip xmlns:asvg="http://schemas.microsoft.com/office/drawing/2016/SVG/main" r:embed="rId3"/>
                </a:ext>
              </a:extLst>
            </a:blip>
            <a:stretch>
              <a:fillRect l="-5" t="0" r="-5" b="0"/>
            </a:stretch>
          </a:blipFill>
        </p:spPr>
      </p:sp>
      <p:sp>
        <p:nvSpPr>
          <p:cNvPr name="TextBox 3" id="3"/>
          <p:cNvSpPr txBox="true"/>
          <p:nvPr/>
        </p:nvSpPr>
        <p:spPr>
          <a:xfrm rot="0">
            <a:off x="6637458" y="877252"/>
            <a:ext cx="3666630" cy="1635442"/>
          </a:xfrm>
          <a:prstGeom prst="rect">
            <a:avLst/>
          </a:prstGeom>
        </p:spPr>
        <p:txBody>
          <a:bodyPr anchor="t" rtlCol="false" tIns="0" lIns="0" bIns="0" rIns="0">
            <a:spAutoFit/>
          </a:bodyPr>
          <a:lstStyle/>
          <a:p>
            <a:pPr algn="l">
              <a:lnSpc>
                <a:spcPts val="10500"/>
              </a:lnSpc>
            </a:pPr>
            <a:r>
              <a:rPr lang="en-US" sz="7500" b="true">
                <a:solidFill>
                  <a:srgbClr val="704EA6"/>
                </a:solidFill>
                <a:latin typeface="Cinzel Bold"/>
                <a:ea typeface="Cinzel Bold"/>
                <a:cs typeface="Cinzel Bold"/>
                <a:sym typeface="Cinzel Bold"/>
              </a:rPr>
              <a:t>Theme</a:t>
            </a:r>
          </a:p>
        </p:txBody>
      </p:sp>
      <p:sp>
        <p:nvSpPr>
          <p:cNvPr name="TextBox 4" id="4"/>
          <p:cNvSpPr txBox="true"/>
          <p:nvPr/>
        </p:nvSpPr>
        <p:spPr>
          <a:xfrm rot="0">
            <a:off x="1424492" y="3280219"/>
            <a:ext cx="15905607" cy="4071861"/>
          </a:xfrm>
          <a:prstGeom prst="rect">
            <a:avLst/>
          </a:prstGeom>
        </p:spPr>
        <p:txBody>
          <a:bodyPr anchor="t" rtlCol="false" tIns="0" lIns="0" bIns="0" rIns="0">
            <a:spAutoFit/>
          </a:bodyPr>
          <a:lstStyle/>
          <a:p>
            <a:pPr algn="l">
              <a:lnSpc>
                <a:spcPts val="4422"/>
              </a:lnSpc>
            </a:pPr>
            <a:r>
              <a:rPr lang="en-US" sz="4206">
                <a:solidFill>
                  <a:srgbClr val="000000"/>
                </a:solidFill>
                <a:latin typeface="Calibri (MS)"/>
                <a:ea typeface="Calibri (MS)"/>
                <a:cs typeface="Calibri (MS)"/>
                <a:sym typeface="Calibri (MS)"/>
              </a:rPr>
              <a:t>Theme 2 - Smart Guided Troubleshooting Engine</a:t>
            </a:r>
          </a:p>
          <a:p>
            <a:pPr algn="l">
              <a:lnSpc>
                <a:spcPts val="4422"/>
              </a:lnSpc>
            </a:pPr>
            <a:r>
              <a:rPr lang="en-US" sz="4206">
                <a:solidFill>
                  <a:srgbClr val="000000"/>
                </a:solidFill>
                <a:latin typeface="Calibri (MS)"/>
                <a:ea typeface="Calibri (MS)"/>
                <a:cs typeface="Calibri (MS)"/>
                <a:sym typeface="Calibri (MS)"/>
              </a:rPr>
              <a:t>Problem: Samsung support agents manually translate raw internal knowledge-store (SIIS) articles into step-by-step guidance for customers - slow and inconsistent.</a:t>
            </a:r>
          </a:p>
          <a:p>
            <a:pPr algn="l">
              <a:lnSpc>
                <a:spcPts val="4422"/>
              </a:lnSpc>
            </a:pPr>
            <a:r>
              <a:rPr lang="en-US" sz="4206">
                <a:solidFill>
                  <a:srgbClr val="000000"/>
                </a:solidFill>
                <a:latin typeface="Calibri (MS)"/>
                <a:ea typeface="Calibri (MS)"/>
                <a:cs typeface="Calibri (MS)"/>
                <a:sym typeface="Calibri (MS)"/>
              </a:rPr>
              <a:t>Goal: build POST /v1/troubleshoot - an API that takes a user's query plus a raw SIIS article and returns a structured, deeplink-enriched troubleshooting guide (Goals -&gt; Actions -&gt; StepGroups), automatically.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9998" y="630707"/>
            <a:ext cx="17709699" cy="8792680"/>
          </a:xfrm>
          <a:custGeom>
            <a:avLst/>
            <a:gdLst/>
            <a:ahLst/>
            <a:cxnLst/>
            <a:rect r="r" b="b" t="t" l="l"/>
            <a:pathLst>
              <a:path h="8792680" w="17709699">
                <a:moveTo>
                  <a:pt x="0" y="0"/>
                </a:moveTo>
                <a:lnTo>
                  <a:pt x="17709699" y="0"/>
                </a:lnTo>
                <a:lnTo>
                  <a:pt x="17709699" y="8792680"/>
                </a:lnTo>
                <a:lnTo>
                  <a:pt x="0" y="8792680"/>
                </a:lnTo>
                <a:lnTo>
                  <a:pt x="0" y="0"/>
                </a:lnTo>
                <a:close/>
              </a:path>
            </a:pathLst>
          </a:custGeom>
          <a:blipFill>
            <a:blip r:embed="rId2">
              <a:extLst>
                <a:ext uri="{96DAC541-7B7A-43D3-8B79-37D633B846F1}">
                  <asvg:svgBlip xmlns:asvg="http://schemas.microsoft.com/office/drawing/2016/SVG/main" r:embed="rId3"/>
                </a:ext>
              </a:extLst>
            </a:blip>
            <a:stretch>
              <a:fillRect l="0" t="-28" r="0" b="-28"/>
            </a:stretch>
          </a:blipFill>
        </p:spPr>
      </p:sp>
      <p:sp>
        <p:nvSpPr>
          <p:cNvPr name="TextBox 3" id="3"/>
          <p:cNvSpPr txBox="true"/>
          <p:nvPr/>
        </p:nvSpPr>
        <p:spPr>
          <a:xfrm rot="0">
            <a:off x="4890535" y="685762"/>
            <a:ext cx="8978789"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Existing Solutions &amp; Gaps</a:t>
            </a:r>
          </a:p>
        </p:txBody>
      </p:sp>
      <p:sp>
        <p:nvSpPr>
          <p:cNvPr name="TextBox 4" id="4"/>
          <p:cNvSpPr txBox="true"/>
          <p:nvPr/>
        </p:nvSpPr>
        <p:spPr>
          <a:xfrm rot="0">
            <a:off x="2018319" y="2420293"/>
            <a:ext cx="14316589" cy="968978"/>
          </a:xfrm>
          <a:prstGeom prst="rect">
            <a:avLst/>
          </a:prstGeom>
        </p:spPr>
        <p:txBody>
          <a:bodyPr anchor="t" rtlCol="false" tIns="0" lIns="0" bIns="0" rIns="0">
            <a:spAutoFit/>
          </a:bodyPr>
          <a:lstStyle/>
          <a:p>
            <a:pPr algn="l">
              <a:lnSpc>
                <a:spcPts val="5179"/>
              </a:lnSpc>
            </a:pPr>
            <a:r>
              <a:rPr lang="en-US" sz="3699">
                <a:solidFill>
                  <a:srgbClr val="000000"/>
                </a:solidFill>
                <a:latin typeface="Calibri (MS)"/>
                <a:ea typeface="Calibri (MS)"/>
                <a:cs typeface="Calibri (MS)"/>
                <a:sym typeface="Calibri (MS)"/>
              </a:rPr>
              <a:t>Existing Samsung support flow:customerdescribesissue-&gt; agent manually</a:t>
            </a:r>
          </a:p>
        </p:txBody>
      </p:sp>
      <p:sp>
        <p:nvSpPr>
          <p:cNvPr name="TextBox 5" id="5"/>
          <p:cNvSpPr txBox="true"/>
          <p:nvPr/>
        </p:nvSpPr>
        <p:spPr>
          <a:xfrm rot="0">
            <a:off x="2018319" y="3287458"/>
            <a:ext cx="15098173" cy="5055203"/>
          </a:xfrm>
          <a:prstGeom prst="rect">
            <a:avLst/>
          </a:prstGeom>
        </p:spPr>
        <p:txBody>
          <a:bodyPr anchor="t" rtlCol="false" tIns="0" lIns="0" bIns="0" rIns="0">
            <a:spAutoFit/>
          </a:bodyPr>
          <a:lstStyle/>
          <a:p>
            <a:pPr algn="l">
              <a:lnSpc>
                <a:spcPts val="3899"/>
              </a:lnSpc>
            </a:pPr>
            <a:r>
              <a:rPr lang="en-US" sz="3699">
                <a:solidFill>
                  <a:srgbClr val="000000"/>
                </a:solidFill>
                <a:latin typeface="Calibri (MS)"/>
                <a:ea typeface="Calibri (MS)"/>
                <a:cs typeface="Calibri (MS)"/>
                <a:sym typeface="Calibri (MS)"/>
              </a:rPr>
              <a:t>reads SIIS article -&gt; agent manually decides which Settings screens to point to -&gt; inconsistent phrasing and missed deeplinks.</a:t>
            </a:r>
          </a:p>
          <a:p>
            <a:pPr algn="l">
              <a:lnSpc>
                <a:spcPts val="3899"/>
              </a:lnSpc>
            </a:pPr>
            <a:r>
              <a:rPr lang="en-US" sz="3699">
                <a:solidFill>
                  <a:srgbClr val="000000"/>
                </a:solidFill>
                <a:latin typeface="Calibri (MS)"/>
                <a:ea typeface="Calibri (MS)"/>
                <a:cs typeface="Calibri (MS)"/>
                <a:sym typeface="Calibri (MS)"/>
              </a:rPr>
              <a:t>Gap 1: No automatic structuring - raw SIIS text is unstructured prose, not actionable steps.</a:t>
            </a:r>
          </a:p>
          <a:p>
            <a:pPr algn="l">
              <a:lnSpc>
                <a:spcPts val="3899"/>
              </a:lnSpc>
            </a:pPr>
            <a:r>
              <a:rPr lang="en-US" sz="3699">
                <a:solidFill>
                  <a:srgbClr val="000000"/>
                </a:solidFill>
                <a:latin typeface="Calibri (MS)"/>
                <a:ea typeface="Calibri (MS)"/>
                <a:cs typeface="Calibri (MS)"/>
                <a:sym typeface="Calibri (MS)"/>
              </a:rPr>
              <a:t>Gap 2: No deeplink discovery - agents don't reliably know which of the 578 Settings deeplinks applies to a given step.</a:t>
            </a:r>
          </a:p>
          <a:p>
            <a:pPr algn="l">
              <a:lnSpc>
                <a:spcPts val="3899"/>
              </a:lnSpc>
            </a:pPr>
            <a:r>
              <a:rPr lang="en-US" sz="3699">
                <a:solidFill>
                  <a:srgbClr val="000000"/>
                </a:solidFill>
                <a:latin typeface="Calibri (MS)"/>
                <a:ea typeface="Calibri (MS)"/>
                <a:cs typeface="Calibri (MS)"/>
                <a:sym typeface="Calibri (MS)"/>
              </a:rPr>
              <a:t>Gap 3: No caching - the same or rephrased question is answered from scratch every time.</a:t>
            </a:r>
          </a:p>
          <a:p>
            <a:pPr algn="l">
              <a:lnSpc>
                <a:spcPts val="3899"/>
              </a:lnSpc>
            </a:pPr>
            <a:r>
              <a:rPr lang="en-US" sz="3699">
                <a:solidFill>
                  <a:srgbClr val="000000"/>
                </a:solidFill>
                <a:latin typeface="Calibri (MS)"/>
                <a:ea typeface="Calibri (MS)"/>
                <a:cs typeface="Calibri (MS)"/>
                <a:sym typeface="Calibri (MS)"/>
              </a:rPr>
              <a:t>Gap 4: No safety net - a flaky LLM call means no answer at all for the customer.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82567" y="962463"/>
            <a:ext cx="16230600" cy="8401050"/>
            <a:chOff x="0" y="0"/>
            <a:chExt cx="21640800" cy="11201400"/>
          </a:xfrm>
        </p:grpSpPr>
        <p:sp>
          <p:nvSpPr>
            <p:cNvPr name="Freeform 3" id="3"/>
            <p:cNvSpPr/>
            <p:nvPr/>
          </p:nvSpPr>
          <p:spPr>
            <a:xfrm flipH="false" flipV="false" rot="0">
              <a:off x="0" y="0"/>
              <a:ext cx="21640800" cy="11201400"/>
            </a:xfrm>
            <a:custGeom>
              <a:avLst/>
              <a:gdLst/>
              <a:ahLst/>
              <a:cxnLst/>
              <a:rect r="r" b="b" t="t" l="l"/>
              <a:pathLst>
                <a:path h="11201400" w="21640800">
                  <a:moveTo>
                    <a:pt x="0" y="0"/>
                  </a:moveTo>
                  <a:lnTo>
                    <a:pt x="21640800" y="0"/>
                  </a:lnTo>
                  <a:lnTo>
                    <a:pt x="21640800" y="11201400"/>
                  </a:lnTo>
                  <a:lnTo>
                    <a:pt x="0" y="11201400"/>
                  </a:lnTo>
                  <a:lnTo>
                    <a:pt x="0" y="0"/>
                  </a:lnTo>
                  <a:close/>
                </a:path>
              </a:pathLst>
            </a:custGeom>
            <a:blipFill>
              <a:blip r:embed="rId2"/>
              <a:stretch>
                <a:fillRect l="0" t="0" r="0" b="0"/>
              </a:stretch>
            </a:blipFill>
          </p:spPr>
        </p:sp>
      </p:grpSp>
      <p:sp>
        <p:nvSpPr>
          <p:cNvPr name="TextBox 4" id="4"/>
          <p:cNvSpPr txBox="true"/>
          <p:nvPr/>
        </p:nvSpPr>
        <p:spPr>
          <a:xfrm rot="0">
            <a:off x="2803712" y="937698"/>
            <a:ext cx="13435213"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Our Solutions &amp; Architecture Diagram</a:t>
            </a:r>
          </a:p>
        </p:txBody>
      </p:sp>
      <p:sp>
        <p:nvSpPr>
          <p:cNvPr name="TextBox 5" id="5"/>
          <p:cNvSpPr txBox="true"/>
          <p:nvPr/>
        </p:nvSpPr>
        <p:spPr>
          <a:xfrm rot="0">
            <a:off x="1982152" y="2450573"/>
            <a:ext cx="11832450" cy="911152"/>
          </a:xfrm>
          <a:prstGeom prst="rect">
            <a:avLst/>
          </a:prstGeom>
        </p:spPr>
        <p:txBody>
          <a:bodyPr anchor="t" rtlCol="false" tIns="0" lIns="0" bIns="0" rIns="0">
            <a:spAutoFit/>
          </a:bodyPr>
          <a:lstStyle/>
          <a:p>
            <a:pPr algn="l">
              <a:lnSpc>
                <a:spcPts val="4898"/>
              </a:lnSpc>
            </a:pPr>
            <a:r>
              <a:rPr lang="en-US" sz="3498">
                <a:solidFill>
                  <a:srgbClr val="000000"/>
                </a:solidFill>
                <a:latin typeface="Calibri (MS)"/>
                <a:ea typeface="Calibri (MS)"/>
                <a:cs typeface="Calibri (MS)"/>
                <a:sym typeface="Calibri (MS)"/>
              </a:rPr>
              <a:t>Oursolution:apipelinethat turns (query,SIISarticle)intoavalidated</a:t>
            </a:r>
          </a:p>
        </p:txBody>
      </p:sp>
      <p:sp>
        <p:nvSpPr>
          <p:cNvPr name="TextBox 6" id="6"/>
          <p:cNvSpPr txBox="true"/>
          <p:nvPr/>
        </p:nvSpPr>
        <p:spPr>
          <a:xfrm rot="0">
            <a:off x="1982152" y="3237833"/>
            <a:ext cx="7628677" cy="1073077"/>
          </a:xfrm>
          <a:prstGeom prst="rect">
            <a:avLst/>
          </a:prstGeom>
        </p:spPr>
        <p:txBody>
          <a:bodyPr anchor="t" rtlCol="false" tIns="0" lIns="0" bIns="0" rIns="0">
            <a:spAutoFit/>
          </a:bodyPr>
          <a:lstStyle/>
          <a:p>
            <a:pPr algn="l">
              <a:lnSpc>
                <a:spcPts val="3749"/>
              </a:lnSpc>
            </a:pPr>
            <a:r>
              <a:rPr lang="en-US" sz="3498">
                <a:solidFill>
                  <a:srgbClr val="000000"/>
                </a:solidFill>
                <a:latin typeface="Calibri (MS)"/>
                <a:ea typeface="Calibri (MS)"/>
                <a:cs typeface="Calibri (MS)"/>
                <a:sym typeface="Calibri (MS)"/>
              </a:rPr>
              <a:t>ContextDeeplinkResponse in one API call. Architecture:</a:t>
            </a:r>
          </a:p>
        </p:txBody>
      </p:sp>
      <p:sp>
        <p:nvSpPr>
          <p:cNvPr name="TextBox 7" id="7"/>
          <p:cNvSpPr txBox="true"/>
          <p:nvPr/>
        </p:nvSpPr>
        <p:spPr>
          <a:xfrm rot="0">
            <a:off x="3125152" y="4190333"/>
            <a:ext cx="13831091" cy="4883077"/>
          </a:xfrm>
          <a:prstGeom prst="rect">
            <a:avLst/>
          </a:prstGeom>
        </p:spPr>
        <p:txBody>
          <a:bodyPr anchor="t" rtlCol="false" tIns="0" lIns="0" bIns="0" rIns="0">
            <a:spAutoFit/>
          </a:bodyPr>
          <a:lstStyle/>
          <a:p>
            <a:pPr algn="l">
              <a:lnSpc>
                <a:spcPts val="3749"/>
              </a:lnSpc>
            </a:pPr>
            <a:r>
              <a:rPr lang="en-US" sz="3498">
                <a:solidFill>
                  <a:srgbClr val="000000"/>
                </a:solidFill>
                <a:latin typeface="Calibri (MS)"/>
                <a:ea typeface="Calibri (MS)"/>
                <a:cs typeface="Calibri (MS)"/>
                <a:sym typeface="Calibri (MS)"/>
              </a:rPr>
              <a:t>query + siis_response -&gt; cache check (by article content hash)</a:t>
            </a:r>
          </a:p>
          <a:p>
            <a:pPr algn="l">
              <a:lnSpc>
                <a:spcPts val="3749"/>
              </a:lnSpc>
            </a:pPr>
            <a:r>
              <a:rPr lang="en-US" sz="3498">
                <a:solidFill>
                  <a:srgbClr val="000000"/>
                </a:solidFill>
                <a:latin typeface="Calibri (MS)"/>
                <a:ea typeface="Calibri (MS)"/>
                <a:cs typeface="Calibri (MS)"/>
                <a:sym typeface="Calibri (MS)"/>
              </a:rPr>
              <a:t>cache miss -&gt; Gemini drafts goal / title / steps / description / category from the SIIS text only</a:t>
            </a:r>
          </a:p>
          <a:p>
            <a:pPr algn="l">
              <a:lnSpc>
                <a:spcPts val="3749"/>
              </a:lnSpc>
            </a:pPr>
            <a:r>
              <a:rPr lang="en-US" sz="3498">
                <a:solidFill>
                  <a:srgbClr val="000000"/>
                </a:solidFill>
                <a:latin typeface="Calibri (MS)"/>
                <a:ea typeface="Calibri (MS)"/>
                <a:cs typeface="Calibri (MS)"/>
                <a:sym typeface="Calibri (MS)"/>
              </a:rPr>
              <a:t>Gemini failure or timeout -&gt; automatic rule-based fallback derives steps directly from the SIIS text, so the API never errors or returns empty deeplink matcher attaches real Settings deeplinks by matching each step's own wording against the 578-entry catalog - never invents a URI</a:t>
            </a:r>
          </a:p>
          <a:p>
            <a:pPr algn="l">
              <a:lnSpc>
                <a:spcPts val="3749"/>
              </a:lnSpc>
            </a:pPr>
            <a:r>
              <a:rPr lang="en-US" sz="3498">
                <a:solidFill>
                  <a:srgbClr val="000000"/>
                </a:solidFill>
                <a:latin typeface="Calibri (MS)"/>
                <a:ea typeface="Calibri (MS)"/>
                <a:cs typeface="Calibri (MS)"/>
                <a:sym typeface="Calibri (MS)"/>
              </a:rPr>
              <a:t>format repair + validation layer enforces the goal regex, 2-3 word title, "It will" + 5-7 word description, score range, and strips any URL before returning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1889" y="420681"/>
            <a:ext cx="17343263" cy="9608668"/>
          </a:xfrm>
          <a:custGeom>
            <a:avLst/>
            <a:gdLst/>
            <a:ahLst/>
            <a:cxnLst/>
            <a:rect r="r" b="b" t="t" l="l"/>
            <a:pathLst>
              <a:path h="9608668" w="17343263">
                <a:moveTo>
                  <a:pt x="0" y="0"/>
                </a:moveTo>
                <a:lnTo>
                  <a:pt x="17343263" y="0"/>
                </a:lnTo>
                <a:lnTo>
                  <a:pt x="17343263" y="9608668"/>
                </a:lnTo>
                <a:lnTo>
                  <a:pt x="0" y="9608668"/>
                </a:lnTo>
                <a:lnTo>
                  <a:pt x="0" y="0"/>
                </a:lnTo>
                <a:close/>
              </a:path>
            </a:pathLst>
          </a:custGeom>
          <a:blipFill>
            <a:blip r:embed="rId2">
              <a:extLst>
                <a:ext uri="{96DAC541-7B7A-43D3-8B79-37D633B846F1}">
                  <asvg:svgBlip xmlns:asvg="http://schemas.microsoft.com/office/drawing/2016/SVG/main" r:embed="rId3"/>
                </a:ext>
              </a:extLst>
            </a:blip>
            <a:stretch>
              <a:fillRect l="0" t="-55" r="0" b="-55"/>
            </a:stretch>
          </a:blipFill>
        </p:spPr>
      </p:sp>
      <p:sp>
        <p:nvSpPr>
          <p:cNvPr name="TextBox 3" id="3"/>
          <p:cNvSpPr txBox="true"/>
          <p:nvPr/>
        </p:nvSpPr>
        <p:spPr>
          <a:xfrm rot="0">
            <a:off x="1257300" y="437636"/>
            <a:ext cx="10755935"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Demo &amp; Product Walkthrough</a:t>
            </a:r>
          </a:p>
        </p:txBody>
      </p:sp>
      <p:sp>
        <p:nvSpPr>
          <p:cNvPr name="TextBox 4" id="4"/>
          <p:cNvSpPr txBox="true"/>
          <p:nvPr/>
        </p:nvSpPr>
        <p:spPr>
          <a:xfrm rot="0">
            <a:off x="2144973" y="2734237"/>
            <a:ext cx="14937810" cy="5432756"/>
          </a:xfrm>
          <a:prstGeom prst="rect">
            <a:avLst/>
          </a:prstGeom>
        </p:spPr>
        <p:txBody>
          <a:bodyPr anchor="t" rtlCol="false" tIns="0" lIns="0" bIns="0" rIns="0">
            <a:spAutoFit/>
          </a:bodyPr>
          <a:lstStyle/>
          <a:p>
            <a:pPr algn="l">
              <a:lnSpc>
                <a:spcPts val="4724"/>
              </a:lnSpc>
            </a:pPr>
            <a:r>
              <a:rPr lang="en-US" sz="4398">
                <a:solidFill>
                  <a:srgbClr val="000000"/>
                </a:solidFill>
                <a:latin typeface="Calibri (MS)"/>
                <a:ea typeface="Calibri (MS)"/>
                <a:cs typeface="Calibri (MS)"/>
                <a:sym typeface="Calibri (MS)"/>
              </a:rPr>
              <a:t>Live demo: GET /health returns {"status": "ok"} - confirms the API is up.</a:t>
            </a:r>
          </a:p>
          <a:p>
            <a:pPr algn="l">
              <a:lnSpc>
                <a:spcPts val="4724"/>
              </a:lnSpc>
            </a:pPr>
            <a:r>
              <a:rPr lang="en-US" sz="4398">
                <a:solidFill>
                  <a:srgbClr val="000000"/>
                </a:solidFill>
                <a:latin typeface="Calibri (MS)"/>
                <a:ea typeface="Calibri (MS)"/>
                <a:cs typeface="Calibri (MS)"/>
                <a:sym typeface="Calibri (MS)"/>
              </a:rPr>
              <a:t>POST /v1/troubleshoot with a real query (e.g. "My Galaxy S22 screen is completely black and won't turn on") and its SIIS article returns a full ContextDeeplinkResponse with Goals, Actions, StepGroups and real deeplinks.</a:t>
            </a:r>
          </a:p>
          <a:p>
            <a:pPr algn="l">
              <a:lnSpc>
                <a:spcPts val="4724"/>
              </a:lnSpc>
            </a:pPr>
            <a:r>
              <a:rPr lang="en-US" sz="4398">
                <a:solidFill>
                  <a:srgbClr val="000000"/>
                </a:solidFill>
                <a:latin typeface="Calibri (MS)"/>
                <a:ea typeface="Calibri (MS)"/>
                <a:cs typeface="Calibri (MS)"/>
                <a:sym typeface="Calibri (MS)"/>
              </a:rPr>
              <a:t>Demo video: </a:t>
            </a:r>
            <a:r>
              <a:rPr lang="en-US" sz="4398">
                <a:solidFill>
                  <a:srgbClr val="0CC0DF"/>
                </a:solidFill>
                <a:latin typeface="Calibri (MS)"/>
                <a:ea typeface="Calibri (MS)"/>
                <a:cs typeface="Calibri (MS)"/>
                <a:sym typeface="Calibri (MS)"/>
              </a:rPr>
              <a:t>https://drive.google.com/file/d/1cGXe4VlctF_X9bVcCWu7Apl_5MvlQKf9/view?usp=drivesdk</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6147" y="608895"/>
            <a:ext cx="16196910" cy="8712898"/>
          </a:xfrm>
          <a:custGeom>
            <a:avLst/>
            <a:gdLst/>
            <a:ahLst/>
            <a:cxnLst/>
            <a:rect r="r" b="b" t="t" l="l"/>
            <a:pathLst>
              <a:path h="8712898" w="16196910">
                <a:moveTo>
                  <a:pt x="0" y="0"/>
                </a:moveTo>
                <a:lnTo>
                  <a:pt x="16196910" y="0"/>
                </a:lnTo>
                <a:lnTo>
                  <a:pt x="16196910" y="8712899"/>
                </a:lnTo>
                <a:lnTo>
                  <a:pt x="0" y="8712899"/>
                </a:lnTo>
                <a:lnTo>
                  <a:pt x="0" y="0"/>
                </a:lnTo>
                <a:close/>
              </a:path>
            </a:pathLst>
          </a:custGeom>
          <a:blipFill>
            <a:blip r:embed="rId2">
              <a:extLst>
                <a:ext uri="{96DAC541-7B7A-43D3-8B79-37D633B846F1}">
                  <asvg:svgBlip xmlns:asvg="http://schemas.microsoft.com/office/drawing/2016/SVG/main" r:embed="rId3"/>
                </a:ext>
              </a:extLst>
            </a:blip>
            <a:stretch>
              <a:fillRect l="0" t="-53" r="0" b="-53"/>
            </a:stretch>
          </a:blipFill>
        </p:spPr>
      </p:sp>
      <p:sp>
        <p:nvSpPr>
          <p:cNvPr name="TextBox 3" id="3"/>
          <p:cNvSpPr txBox="true"/>
          <p:nvPr/>
        </p:nvSpPr>
        <p:spPr>
          <a:xfrm rot="0">
            <a:off x="4411980" y="484975"/>
            <a:ext cx="9066457"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Tools and tech stack used</a:t>
            </a:r>
          </a:p>
        </p:txBody>
      </p:sp>
      <p:sp>
        <p:nvSpPr>
          <p:cNvPr name="TextBox 4" id="4"/>
          <p:cNvSpPr txBox="true"/>
          <p:nvPr/>
        </p:nvSpPr>
        <p:spPr>
          <a:xfrm rot="0">
            <a:off x="2182092" y="2175996"/>
            <a:ext cx="13868057" cy="1084507"/>
          </a:xfrm>
          <a:prstGeom prst="rect">
            <a:avLst/>
          </a:prstGeom>
        </p:spPr>
        <p:txBody>
          <a:bodyPr anchor="t" rtlCol="false" tIns="0" lIns="0" bIns="0" rIns="0">
            <a:spAutoFit/>
          </a:bodyPr>
          <a:lstStyle/>
          <a:p>
            <a:pPr algn="l">
              <a:lnSpc>
                <a:spcPts val="5739"/>
              </a:lnSpc>
            </a:pPr>
            <a:r>
              <a:rPr lang="en-US" sz="4098">
                <a:solidFill>
                  <a:srgbClr val="000000"/>
                </a:solidFill>
                <a:latin typeface="Calibri (MS)"/>
                <a:ea typeface="Calibri (MS)"/>
                <a:cs typeface="Calibri (MS)"/>
                <a:sym typeface="Calibri (MS)"/>
              </a:rPr>
              <a:t>Python 3.11,FastAPI,Pydanticv2(schemavalidationagainst the</a:t>
            </a:r>
          </a:p>
        </p:txBody>
      </p:sp>
      <p:sp>
        <p:nvSpPr>
          <p:cNvPr name="TextBox 5" id="5"/>
          <p:cNvSpPr txBox="true"/>
          <p:nvPr/>
        </p:nvSpPr>
        <p:spPr>
          <a:xfrm rot="0">
            <a:off x="2182092" y="3128496"/>
            <a:ext cx="14503822" cy="4551607"/>
          </a:xfrm>
          <a:prstGeom prst="rect">
            <a:avLst/>
          </a:prstGeom>
        </p:spPr>
        <p:txBody>
          <a:bodyPr anchor="t" rtlCol="false" tIns="0" lIns="0" bIns="0" rIns="0">
            <a:spAutoFit/>
          </a:bodyPr>
          <a:lstStyle/>
          <a:p>
            <a:pPr algn="l">
              <a:lnSpc>
                <a:spcPts val="4348"/>
              </a:lnSpc>
            </a:pPr>
            <a:r>
              <a:rPr lang="en-US" sz="4098">
                <a:solidFill>
                  <a:srgbClr val="000000"/>
                </a:solidFill>
                <a:latin typeface="Calibri (MS)"/>
                <a:ea typeface="Calibri (MS)"/>
                <a:cs typeface="Calibri (MS)"/>
                <a:sym typeface="Calibri (MS)"/>
              </a:rPr>
              <a:t>official schema.py)</a:t>
            </a:r>
          </a:p>
          <a:p>
            <a:pPr algn="l">
              <a:lnSpc>
                <a:spcPts val="4348"/>
              </a:lnSpc>
            </a:pPr>
            <a:r>
              <a:rPr lang="en-US" sz="4098">
                <a:solidFill>
                  <a:srgbClr val="000000"/>
                </a:solidFill>
                <a:latin typeface="Calibri (MS)"/>
                <a:ea typeface="Calibri (MS)"/>
                <a:cs typeface="Calibri (MS)"/>
                <a:sym typeface="Calibri (MS)"/>
              </a:rPr>
              <a:t>Google Gemini (gemini-3.1-flash-lite) for query understanding and step drafting</a:t>
            </a:r>
          </a:p>
          <a:p>
            <a:pPr algn="l">
              <a:lnSpc>
                <a:spcPts val="4348"/>
              </a:lnSpc>
            </a:pPr>
            <a:r>
              <a:rPr lang="en-US" sz="4098">
                <a:solidFill>
                  <a:srgbClr val="000000"/>
                </a:solidFill>
                <a:latin typeface="Calibri (MS)"/>
                <a:ea typeface="Calibri (MS)"/>
                <a:cs typeface="Calibri (MS)"/>
                <a:sym typeface="Calibri (MS)"/>
              </a:rPr>
              <a:t>In-memory cache keyed on SIIS article content hash, for sub-300ms repeat/paraphrase responses</a:t>
            </a:r>
          </a:p>
          <a:p>
            <a:pPr algn="l">
              <a:lnSpc>
                <a:spcPts val="4348"/>
              </a:lnSpc>
            </a:pPr>
            <a:r>
              <a:rPr lang="en-US" sz="4098">
                <a:solidFill>
                  <a:srgbClr val="000000"/>
                </a:solidFill>
                <a:latin typeface="Calibri (MS)"/>
                <a:ea typeface="Calibri (MS)"/>
                <a:cs typeface="Calibri (MS)"/>
                <a:sym typeface="Calibri (MS)"/>
              </a:rPr>
              <a:t>Rule-based fallback generator (no external dependency) as a reliability safety net</a:t>
            </a:r>
          </a:p>
          <a:p>
            <a:pPr algn="l">
              <a:lnSpc>
                <a:spcPts val="4348"/>
              </a:lnSpc>
            </a:pPr>
            <a:r>
              <a:rPr lang="en-US" sz="4098">
                <a:solidFill>
                  <a:srgbClr val="000000"/>
                </a:solidFill>
                <a:latin typeface="Calibri (MS)"/>
                <a:ea typeface="Calibri (MS)"/>
                <a:cs typeface="Calibri (MS)"/>
                <a:sym typeface="Calibri (MS)"/>
              </a:rPr>
              <a:t>Docker for reproducible deployment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122" y="554603"/>
            <a:ext cx="17557747" cy="9302744"/>
          </a:xfrm>
          <a:custGeom>
            <a:avLst/>
            <a:gdLst/>
            <a:ahLst/>
            <a:cxnLst/>
            <a:rect r="r" b="b" t="t" l="l"/>
            <a:pathLst>
              <a:path h="9302744" w="17557747">
                <a:moveTo>
                  <a:pt x="0" y="0"/>
                </a:moveTo>
                <a:lnTo>
                  <a:pt x="17557747" y="0"/>
                </a:lnTo>
                <a:lnTo>
                  <a:pt x="17557747" y="9302743"/>
                </a:lnTo>
                <a:lnTo>
                  <a:pt x="0" y="9302743"/>
                </a:lnTo>
                <a:lnTo>
                  <a:pt x="0" y="0"/>
                </a:lnTo>
                <a:close/>
              </a:path>
            </a:pathLst>
          </a:custGeom>
          <a:blipFill>
            <a:blip r:embed="rId2">
              <a:extLst>
                <a:ext uri="{96DAC541-7B7A-43D3-8B79-37D633B846F1}">
                  <asvg:svgBlip xmlns:asvg="http://schemas.microsoft.com/office/drawing/2016/SVG/main" r:embed="rId3"/>
                </a:ext>
              </a:extLst>
            </a:blip>
            <a:stretch>
              <a:fillRect l="0" t="0" r="-1" b="0"/>
            </a:stretch>
          </a:blipFill>
        </p:spPr>
      </p:sp>
      <p:sp>
        <p:nvSpPr>
          <p:cNvPr name="TextBox 3" id="3"/>
          <p:cNvSpPr txBox="true"/>
          <p:nvPr/>
        </p:nvSpPr>
        <p:spPr>
          <a:xfrm rot="0">
            <a:off x="5867381" y="685762"/>
            <a:ext cx="6521606"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Impact &amp; Use case</a:t>
            </a:r>
          </a:p>
        </p:txBody>
      </p:sp>
      <p:sp>
        <p:nvSpPr>
          <p:cNvPr name="TextBox 4" id="4"/>
          <p:cNvSpPr txBox="true"/>
          <p:nvPr/>
        </p:nvSpPr>
        <p:spPr>
          <a:xfrm rot="0">
            <a:off x="2126818" y="2335625"/>
            <a:ext cx="15347299" cy="1142333"/>
          </a:xfrm>
          <a:prstGeom prst="rect">
            <a:avLst/>
          </a:prstGeom>
        </p:spPr>
        <p:txBody>
          <a:bodyPr anchor="t" rtlCol="false" tIns="0" lIns="0" bIns="0" rIns="0">
            <a:spAutoFit/>
          </a:bodyPr>
          <a:lstStyle/>
          <a:p>
            <a:pPr algn="l">
              <a:lnSpc>
                <a:spcPts val="6017"/>
              </a:lnSpc>
            </a:pPr>
            <a:r>
              <a:rPr lang="en-US" sz="4299">
                <a:solidFill>
                  <a:srgbClr val="000000"/>
                </a:solidFill>
                <a:latin typeface="Calibri (MS)"/>
                <a:ea typeface="Calibri (MS)"/>
                <a:cs typeface="Calibri (MS)"/>
                <a:sym typeface="Calibri (MS)"/>
              </a:rPr>
              <a:t>Turns every rawSamsung support articleinto a ready-to-use,</a:t>
            </a:r>
          </a:p>
        </p:txBody>
      </p:sp>
      <p:sp>
        <p:nvSpPr>
          <p:cNvPr name="TextBox 5" id="5"/>
          <p:cNvSpPr txBox="true"/>
          <p:nvPr/>
        </p:nvSpPr>
        <p:spPr>
          <a:xfrm rot="0">
            <a:off x="2126818" y="3335750"/>
            <a:ext cx="15347299" cy="5857199"/>
          </a:xfrm>
          <a:prstGeom prst="rect">
            <a:avLst/>
          </a:prstGeom>
        </p:spPr>
        <p:txBody>
          <a:bodyPr anchor="t" rtlCol="false" tIns="0" lIns="0" bIns="0" rIns="0">
            <a:spAutoFit/>
          </a:bodyPr>
          <a:lstStyle/>
          <a:p>
            <a:pPr algn="just">
              <a:lnSpc>
                <a:spcPts val="4501"/>
              </a:lnSpc>
            </a:pPr>
            <a:r>
              <a:rPr lang="en-US" sz="4299">
                <a:solidFill>
                  <a:srgbClr val="000000"/>
                </a:solidFill>
                <a:latin typeface="Calibri (MS)"/>
                <a:ea typeface="Calibri (MS)"/>
                <a:cs typeface="Calibri (MS)"/>
                <a:sym typeface="Calibri (MS)"/>
              </a:rPr>
              <a:t>structured troubleshooting flow - no manual agent authoring needed.</a:t>
            </a:r>
          </a:p>
          <a:p>
            <a:pPr algn="just">
              <a:lnSpc>
                <a:spcPts val="4501"/>
              </a:lnSpc>
            </a:pPr>
            <a:r>
              <a:rPr lang="en-US" sz="4299">
                <a:solidFill>
                  <a:srgbClr val="000000"/>
                </a:solidFill>
                <a:latin typeface="Calibri (MS)"/>
                <a:ea typeface="Calibri (MS)"/>
                <a:cs typeface="Calibri (MS)"/>
                <a:sym typeface="Calibri (MS)"/>
              </a:rPr>
              <a:t>Customers get consistent, jargon-free steps with one-tap Settings deeplinks instead of generic text instructions.</a:t>
            </a:r>
          </a:p>
          <a:p>
            <a:pPr algn="just">
              <a:lnSpc>
                <a:spcPts val="4501"/>
              </a:lnSpc>
            </a:pPr>
            <a:r>
              <a:rPr lang="en-US" sz="4299">
                <a:solidFill>
                  <a:srgbClr val="000000"/>
                </a:solidFill>
                <a:latin typeface="Calibri (MS)"/>
                <a:ea typeface="Calibri (MS)"/>
                <a:cs typeface="Calibri (MS)"/>
                <a:sym typeface="Calibri (MS)"/>
              </a:rPr>
              <a:t>Cuts response time for common issues (blank screen, touch problems, screen mirroring, etc.) from manual lookup to a sub- second cached API call.</a:t>
            </a:r>
          </a:p>
          <a:p>
            <a:pPr algn="just">
              <a:lnSpc>
                <a:spcPts val="4501"/>
              </a:lnSpc>
            </a:pPr>
            <a:r>
              <a:rPr lang="en-US" sz="4299">
                <a:solidFill>
                  <a:srgbClr val="000000"/>
                </a:solidFill>
                <a:latin typeface="Calibri (MS)"/>
                <a:ea typeface="Calibri (MS)"/>
                <a:cs typeface="Calibri (MS)"/>
                <a:sym typeface="Calibri (MS)"/>
              </a:rPr>
              <a:t>Scales directly to any new SIIS article without retraining or rewriting rules, since steps are always derived live from the source text.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122" y="554603"/>
            <a:ext cx="17557747" cy="9302744"/>
          </a:xfrm>
          <a:custGeom>
            <a:avLst/>
            <a:gdLst/>
            <a:ahLst/>
            <a:cxnLst/>
            <a:rect r="r" b="b" t="t" l="l"/>
            <a:pathLst>
              <a:path h="9302744" w="17557747">
                <a:moveTo>
                  <a:pt x="0" y="0"/>
                </a:moveTo>
                <a:lnTo>
                  <a:pt x="17557747" y="0"/>
                </a:lnTo>
                <a:lnTo>
                  <a:pt x="17557747" y="9302743"/>
                </a:lnTo>
                <a:lnTo>
                  <a:pt x="0" y="9302743"/>
                </a:lnTo>
                <a:lnTo>
                  <a:pt x="0" y="0"/>
                </a:lnTo>
                <a:close/>
              </a:path>
            </a:pathLst>
          </a:custGeom>
          <a:blipFill>
            <a:blip r:embed="rId2">
              <a:extLst>
                <a:ext uri="{96DAC541-7B7A-43D3-8B79-37D633B846F1}">
                  <asvg:svgBlip xmlns:asvg="http://schemas.microsoft.com/office/drawing/2016/SVG/main" r:embed="rId3"/>
                </a:ext>
              </a:extLst>
            </a:blip>
            <a:stretch>
              <a:fillRect l="0" t="0" r="-1" b="0"/>
            </a:stretch>
          </a:blipFill>
        </p:spPr>
      </p:sp>
      <p:sp>
        <p:nvSpPr>
          <p:cNvPr name="TextBox 3" id="3"/>
          <p:cNvSpPr txBox="true"/>
          <p:nvPr/>
        </p:nvSpPr>
        <p:spPr>
          <a:xfrm rot="0">
            <a:off x="1257300" y="437636"/>
            <a:ext cx="15835617"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Innovation highlights, results and limitations</a:t>
            </a:r>
          </a:p>
        </p:txBody>
      </p:sp>
      <p:sp>
        <p:nvSpPr>
          <p:cNvPr name="TextBox 4" id="4"/>
          <p:cNvSpPr txBox="true"/>
          <p:nvPr/>
        </p:nvSpPr>
        <p:spPr>
          <a:xfrm rot="0">
            <a:off x="2036331" y="2766803"/>
            <a:ext cx="14955584" cy="6298492"/>
          </a:xfrm>
          <a:prstGeom prst="rect">
            <a:avLst/>
          </a:prstGeom>
        </p:spPr>
        <p:txBody>
          <a:bodyPr anchor="t" rtlCol="false" tIns="0" lIns="0" bIns="0" rIns="0">
            <a:spAutoFit/>
          </a:bodyPr>
          <a:lstStyle/>
          <a:p>
            <a:pPr algn="l">
              <a:lnSpc>
                <a:spcPts val="4049"/>
              </a:lnSpc>
            </a:pPr>
            <a:r>
              <a:rPr lang="en-US" sz="3798">
                <a:solidFill>
                  <a:srgbClr val="000000"/>
                </a:solidFill>
                <a:latin typeface="Calibri (MS)"/>
                <a:ea typeface="Calibri (MS)"/>
                <a:cs typeface="Calibri (MS)"/>
                <a:sym typeface="Calibri (MS)"/>
              </a:rPr>
              <a:t>Innovation: deeplinks are matched by meaning (validation key / description), never invented - the LLM never writes a deeplink URI itself. Innovation: automatic fallback generator guarantees a valid, non-empty response even if the LLM is down, slow, or rate-limited.</a:t>
            </a:r>
          </a:p>
          <a:p>
            <a:pPr algn="l">
              <a:lnSpc>
                <a:spcPts val="4049"/>
              </a:lnSpc>
            </a:pPr>
            <a:r>
              <a:rPr lang="en-US" sz="3798">
                <a:solidFill>
                  <a:srgbClr val="000000"/>
                </a:solidFill>
                <a:latin typeface="Calibri (MS)"/>
                <a:ea typeface="Calibri (MS)"/>
                <a:cs typeface="Calibri (MS)"/>
                <a:sym typeface="Calibri (MS)"/>
              </a:rPr>
              <a:t>Results: 20/20 kit scenarios pass every format rule (goal regex, title length, description rule, score range, auto-actions-have-deeplinks).</a:t>
            </a:r>
          </a:p>
          <a:p>
            <a:pPr algn="l">
              <a:lnSpc>
                <a:spcPts val="4049"/>
              </a:lnSpc>
            </a:pPr>
            <a:r>
              <a:rPr lang="en-US" sz="3798">
                <a:solidFill>
                  <a:srgbClr val="000000"/>
                </a:solidFill>
                <a:latin typeface="Calibri (MS)"/>
                <a:ea typeface="Calibri (MS)"/>
                <a:cs typeface="Calibri (MS)"/>
                <a:sym typeface="Calibri (MS)"/>
              </a:rPr>
              <a:t>Results: zero URL leaks across all responses; cold-start latency under the 8- second limit.</a:t>
            </a:r>
          </a:p>
          <a:p>
            <a:pPr algn="l">
              <a:lnSpc>
                <a:spcPts val="4049"/>
              </a:lnSpc>
            </a:pPr>
            <a:r>
              <a:rPr lang="en-US" sz="3798">
                <a:solidFill>
                  <a:srgbClr val="000000"/>
                </a:solidFill>
                <a:latin typeface="Calibri (MS)"/>
                <a:ea typeface="Calibri (MS)"/>
                <a:cs typeface="Calibri (MS)"/>
                <a:sym typeface="Calibri (MS)"/>
              </a:rPr>
              <a:t>Limitation: deeplink matching favors precision over recall - it may correctly leave a step as "manual" rather than risk attaching a wrong deeplink. Limitation: fallback phrasing is plainer than the LLM path, since it exists purely as a safety net.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122" y="554603"/>
            <a:ext cx="17557747" cy="9302744"/>
          </a:xfrm>
          <a:custGeom>
            <a:avLst/>
            <a:gdLst/>
            <a:ahLst/>
            <a:cxnLst/>
            <a:rect r="r" b="b" t="t" l="l"/>
            <a:pathLst>
              <a:path h="9302744" w="17557747">
                <a:moveTo>
                  <a:pt x="0" y="0"/>
                </a:moveTo>
                <a:lnTo>
                  <a:pt x="17557747" y="0"/>
                </a:lnTo>
                <a:lnTo>
                  <a:pt x="17557747" y="9302743"/>
                </a:lnTo>
                <a:lnTo>
                  <a:pt x="0" y="9302743"/>
                </a:lnTo>
                <a:lnTo>
                  <a:pt x="0" y="0"/>
                </a:lnTo>
                <a:close/>
              </a:path>
            </a:pathLst>
          </a:custGeom>
          <a:blipFill>
            <a:blip r:embed="rId2">
              <a:extLst>
                <a:ext uri="{96DAC541-7B7A-43D3-8B79-37D633B846F1}">
                  <asvg:svgBlip xmlns:asvg="http://schemas.microsoft.com/office/drawing/2016/SVG/main" r:embed="rId3"/>
                </a:ext>
              </a:extLst>
            </a:blip>
            <a:stretch>
              <a:fillRect l="0" t="0" r="-1" b="0"/>
            </a:stretch>
          </a:blipFill>
        </p:spPr>
      </p:sp>
      <p:sp>
        <p:nvSpPr>
          <p:cNvPr name="TextBox 3" id="3"/>
          <p:cNvSpPr txBox="true"/>
          <p:nvPr/>
        </p:nvSpPr>
        <p:spPr>
          <a:xfrm rot="0">
            <a:off x="6486468" y="685762"/>
            <a:ext cx="4285259"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What’s next</a:t>
            </a:r>
          </a:p>
        </p:txBody>
      </p:sp>
      <p:sp>
        <p:nvSpPr>
          <p:cNvPr name="TextBox 4" id="4"/>
          <p:cNvSpPr txBox="true"/>
          <p:nvPr/>
        </p:nvSpPr>
        <p:spPr>
          <a:xfrm rot="0">
            <a:off x="2199294" y="2787091"/>
            <a:ext cx="14647154" cy="5172637"/>
          </a:xfrm>
          <a:prstGeom prst="rect">
            <a:avLst/>
          </a:prstGeom>
        </p:spPr>
        <p:txBody>
          <a:bodyPr anchor="t" rtlCol="false" tIns="0" lIns="0" bIns="0" rIns="0">
            <a:spAutoFit/>
          </a:bodyPr>
          <a:lstStyle/>
          <a:p>
            <a:pPr algn="l">
              <a:lnSpc>
                <a:spcPts val="4946"/>
              </a:lnSpc>
            </a:pPr>
            <a:r>
              <a:rPr lang="en-US" sz="4698">
                <a:solidFill>
                  <a:srgbClr val="000000"/>
                </a:solidFill>
                <a:latin typeface="Calibri (MS)"/>
                <a:ea typeface="Calibri (MS)"/>
                <a:cs typeface="Calibri (MS)"/>
                <a:sym typeface="Calibri (MS)"/>
              </a:rPr>
              <a:t>Move deeplink matching from keyword/label matching to embedding-based semantic matching for higher recall.</a:t>
            </a:r>
          </a:p>
          <a:p>
            <a:pPr algn="l">
              <a:lnSpc>
                <a:spcPts val="4946"/>
              </a:lnSpc>
            </a:pPr>
            <a:r>
              <a:rPr lang="en-US" sz="4698">
                <a:solidFill>
                  <a:srgbClr val="000000"/>
                </a:solidFill>
                <a:latin typeface="Calibri (MS)"/>
                <a:ea typeface="Calibri (MS)"/>
                <a:cs typeface="Calibri (MS)"/>
                <a:sym typeface="Calibri (MS)"/>
              </a:rPr>
              <a:t>Add a persistent cache (Redis) so warm results survive a server restart.</a:t>
            </a:r>
          </a:p>
          <a:p>
            <a:pPr algn="l">
              <a:lnSpc>
                <a:spcPts val="4946"/>
              </a:lnSpc>
            </a:pPr>
            <a:r>
              <a:rPr lang="en-US" sz="4698">
                <a:solidFill>
                  <a:srgbClr val="000000"/>
                </a:solidFill>
                <a:latin typeface="Calibri (MS)"/>
                <a:ea typeface="Calibri (MS)"/>
                <a:cs typeface="Calibri (MS)"/>
                <a:sym typeface="Calibri (MS)"/>
              </a:rPr>
              <a:t>Expand generalization testing against a wider set of unseen SIIS articles and query phrasings.</a:t>
            </a:r>
          </a:p>
          <a:p>
            <a:pPr algn="l">
              <a:lnSpc>
                <a:spcPts val="4946"/>
              </a:lnSpc>
            </a:pPr>
            <a:r>
              <a:rPr lang="en-US" sz="4698">
                <a:solidFill>
                  <a:srgbClr val="000000"/>
                </a:solidFill>
                <a:latin typeface="Calibri (MS)"/>
                <a:ea typeface="Calibri (MS)"/>
                <a:cs typeface="Calibri (MS)"/>
                <a:sym typeface="Calibri (MS)"/>
              </a:rPr>
              <a:t>Add automated regression tests that run scripts/selfcheck.py on every commit.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122" y="554603"/>
            <a:ext cx="17557747" cy="9302744"/>
          </a:xfrm>
          <a:custGeom>
            <a:avLst/>
            <a:gdLst/>
            <a:ahLst/>
            <a:cxnLst/>
            <a:rect r="r" b="b" t="t" l="l"/>
            <a:pathLst>
              <a:path h="9302744" w="17557747">
                <a:moveTo>
                  <a:pt x="0" y="0"/>
                </a:moveTo>
                <a:lnTo>
                  <a:pt x="17557747" y="0"/>
                </a:lnTo>
                <a:lnTo>
                  <a:pt x="17557747" y="9302743"/>
                </a:lnTo>
                <a:lnTo>
                  <a:pt x="0" y="9302743"/>
                </a:lnTo>
                <a:lnTo>
                  <a:pt x="0" y="0"/>
                </a:lnTo>
                <a:close/>
              </a:path>
            </a:pathLst>
          </a:custGeom>
          <a:blipFill>
            <a:blip r:embed="rId2">
              <a:extLst>
                <a:ext uri="{96DAC541-7B7A-43D3-8B79-37D633B846F1}">
                  <asvg:svgBlip xmlns:asvg="http://schemas.microsoft.com/office/drawing/2016/SVG/main" r:embed="rId3"/>
                </a:ext>
              </a:extLst>
            </a:blip>
            <a:stretch>
              <a:fillRect l="0" t="0" r="-1" b="0"/>
            </a:stretch>
          </a:blipFill>
        </p:spPr>
      </p:sp>
      <p:sp>
        <p:nvSpPr>
          <p:cNvPr name="TextBox 3" id="3"/>
          <p:cNvSpPr txBox="true"/>
          <p:nvPr/>
        </p:nvSpPr>
        <p:spPr>
          <a:xfrm rot="0">
            <a:off x="2969390" y="685762"/>
            <a:ext cx="13153006"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Brownie points slide( differentiation)</a:t>
            </a:r>
          </a:p>
        </p:txBody>
      </p:sp>
      <p:sp>
        <p:nvSpPr>
          <p:cNvPr name="TextBox 4" id="4"/>
          <p:cNvSpPr txBox="true"/>
          <p:nvPr/>
        </p:nvSpPr>
        <p:spPr>
          <a:xfrm rot="0">
            <a:off x="2090652" y="2376783"/>
            <a:ext cx="13754757" cy="1084507"/>
          </a:xfrm>
          <a:prstGeom prst="rect">
            <a:avLst/>
          </a:prstGeom>
        </p:spPr>
        <p:txBody>
          <a:bodyPr anchor="t" rtlCol="false" tIns="0" lIns="0" bIns="0" rIns="0">
            <a:spAutoFit/>
          </a:bodyPr>
          <a:lstStyle/>
          <a:p>
            <a:pPr algn="l">
              <a:lnSpc>
                <a:spcPts val="5739"/>
              </a:lnSpc>
            </a:pPr>
            <a:r>
              <a:rPr lang="en-US" sz="4098">
                <a:solidFill>
                  <a:srgbClr val="000000"/>
                </a:solidFill>
                <a:latin typeface="Calibri (MS)"/>
                <a:ea typeface="Calibri (MS)"/>
                <a:cs typeface="Calibri (MS)"/>
                <a:sym typeface="Calibri (MS)"/>
              </a:rPr>
              <a:t>Fullsafety net: every response is guaranteed schema-valideven</a:t>
            </a:r>
          </a:p>
        </p:txBody>
      </p:sp>
      <p:sp>
        <p:nvSpPr>
          <p:cNvPr name="TextBox 5" id="5"/>
          <p:cNvSpPr txBox="true"/>
          <p:nvPr/>
        </p:nvSpPr>
        <p:spPr>
          <a:xfrm rot="0">
            <a:off x="2090652" y="3329283"/>
            <a:ext cx="14904939" cy="4551607"/>
          </a:xfrm>
          <a:prstGeom prst="rect">
            <a:avLst/>
          </a:prstGeom>
        </p:spPr>
        <p:txBody>
          <a:bodyPr anchor="t" rtlCol="false" tIns="0" lIns="0" bIns="0" rIns="0">
            <a:spAutoFit/>
          </a:bodyPr>
          <a:lstStyle/>
          <a:p>
            <a:pPr algn="l">
              <a:lnSpc>
                <a:spcPts val="4348"/>
              </a:lnSpc>
            </a:pPr>
            <a:r>
              <a:rPr lang="en-US" sz="4098">
                <a:solidFill>
                  <a:srgbClr val="000000"/>
                </a:solidFill>
                <a:latin typeface="Calibri (MS)"/>
                <a:ea typeface="Calibri (MS)"/>
                <a:cs typeface="Calibri (MS)"/>
                <a:sym typeface="Calibri (MS)"/>
              </a:rPr>
              <a:t>under LLM failure, thanks to the rule-based fallback.</a:t>
            </a:r>
          </a:p>
          <a:p>
            <a:pPr algn="l">
              <a:lnSpc>
                <a:spcPts val="4348"/>
              </a:lnSpc>
            </a:pPr>
            <a:r>
              <a:rPr lang="en-US" sz="4098">
                <a:solidFill>
                  <a:srgbClr val="000000"/>
                </a:solidFill>
                <a:latin typeface="Calibri (MS)"/>
                <a:ea typeface="Calibri (MS)"/>
                <a:cs typeface="Calibri (MS)"/>
                <a:sym typeface="Calibri (MS)"/>
              </a:rPr>
              <a:t>Zero-URL-leak enforcement is applied as a final regex sweep over the entire JSON output, not just individual fields.</a:t>
            </a:r>
          </a:p>
          <a:p>
            <a:pPr algn="l">
              <a:lnSpc>
                <a:spcPts val="4348"/>
              </a:lnSpc>
            </a:pPr>
            <a:r>
              <a:rPr lang="en-US" sz="4098">
                <a:solidFill>
                  <a:srgbClr val="000000"/>
                </a:solidFill>
                <a:latin typeface="Calibri (MS)"/>
                <a:ea typeface="Calibri (MS)"/>
                <a:cs typeface="Calibri (MS)"/>
                <a:sym typeface="Calibri (MS)"/>
              </a:rPr>
              <a:t>results.jsonl includes 8-10 genuinely diverse query_variations per query (synonym swaps, register changes, reordering, question framing) - not near-duplicates.</a:t>
            </a:r>
          </a:p>
          <a:p>
            <a:pPr algn="l">
              <a:lnSpc>
                <a:spcPts val="4348"/>
              </a:lnSpc>
            </a:pPr>
            <a:r>
              <a:rPr lang="en-US" sz="4098">
                <a:solidFill>
                  <a:srgbClr val="000000"/>
                </a:solidFill>
                <a:latin typeface="Calibri (MS)"/>
                <a:ea typeface="Calibri (MS)"/>
                <a:cs typeface="Calibri (MS)"/>
                <a:sym typeface="Calibri (MS)"/>
              </a:rPr>
              <a:t>Self-check script (scripts/selfcheck.py) reproduces the judges' own checks locally, including cold/warm latency per query.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122" y="554603"/>
            <a:ext cx="17557747" cy="9302744"/>
          </a:xfrm>
          <a:custGeom>
            <a:avLst/>
            <a:gdLst/>
            <a:ahLst/>
            <a:cxnLst/>
            <a:rect r="r" b="b" t="t" l="l"/>
            <a:pathLst>
              <a:path h="9302744" w="17557747">
                <a:moveTo>
                  <a:pt x="0" y="0"/>
                </a:moveTo>
                <a:lnTo>
                  <a:pt x="17557747" y="0"/>
                </a:lnTo>
                <a:lnTo>
                  <a:pt x="17557747" y="9302743"/>
                </a:lnTo>
                <a:lnTo>
                  <a:pt x="0" y="9302743"/>
                </a:lnTo>
                <a:lnTo>
                  <a:pt x="0" y="0"/>
                </a:lnTo>
                <a:close/>
              </a:path>
            </a:pathLst>
          </a:custGeom>
          <a:blipFill>
            <a:blip r:embed="rId2">
              <a:extLst>
                <a:ext uri="{96DAC541-7B7A-43D3-8B79-37D633B846F1}">
                  <asvg:svgBlip xmlns:asvg="http://schemas.microsoft.com/office/drawing/2016/SVG/main" r:embed="rId3"/>
                </a:ext>
              </a:extLst>
            </a:blip>
            <a:stretch>
              <a:fillRect l="0" t="0" r="-1" b="0"/>
            </a:stretch>
          </a:blipFill>
        </p:spPr>
      </p:sp>
      <p:sp>
        <p:nvSpPr>
          <p:cNvPr name="TextBox 3" id="3"/>
          <p:cNvSpPr txBox="true"/>
          <p:nvPr/>
        </p:nvSpPr>
        <p:spPr>
          <a:xfrm rot="0">
            <a:off x="1257300" y="437636"/>
            <a:ext cx="12862446" cy="1764030"/>
          </a:xfrm>
          <a:prstGeom prst="rect">
            <a:avLst/>
          </a:prstGeom>
        </p:spPr>
        <p:txBody>
          <a:bodyPr anchor="t" rtlCol="false" tIns="0" lIns="0" bIns="0" rIns="0">
            <a:spAutoFit/>
          </a:bodyPr>
          <a:lstStyle/>
          <a:p>
            <a:pPr algn="l">
              <a:lnSpc>
                <a:spcPts val="9240"/>
              </a:lnSpc>
            </a:pPr>
            <a:r>
              <a:rPr lang="en-US" sz="6600" b="true">
                <a:solidFill>
                  <a:srgbClr val="704EA6"/>
                </a:solidFill>
                <a:latin typeface="Calibri (MS) Bold"/>
                <a:ea typeface="Calibri (MS) Bold"/>
                <a:cs typeface="Calibri (MS) Bold"/>
                <a:sym typeface="Calibri (MS) Bold"/>
              </a:rPr>
              <a:t>Checklist- Updated on Public GitHub</a:t>
            </a:r>
          </a:p>
        </p:txBody>
      </p:sp>
      <p:sp>
        <p:nvSpPr>
          <p:cNvPr name="TextBox 4" id="4"/>
          <p:cNvSpPr txBox="true"/>
          <p:nvPr/>
        </p:nvSpPr>
        <p:spPr>
          <a:xfrm rot="0">
            <a:off x="2181139" y="2774194"/>
            <a:ext cx="13125507" cy="3234023"/>
          </a:xfrm>
          <a:prstGeom prst="rect">
            <a:avLst/>
          </a:prstGeom>
        </p:spPr>
        <p:txBody>
          <a:bodyPr anchor="t" rtlCol="false" tIns="0" lIns="0" bIns="0" rIns="0">
            <a:spAutoFit/>
          </a:bodyPr>
          <a:lstStyle/>
          <a:p>
            <a:pPr algn="l">
              <a:lnSpc>
                <a:spcPts val="4874"/>
              </a:lnSpc>
            </a:pPr>
            <a:r>
              <a:rPr lang="en-US" sz="4599">
                <a:solidFill>
                  <a:srgbClr val="63637E"/>
                </a:solidFill>
                <a:latin typeface="Calibri (MS)"/>
                <a:ea typeface="Calibri (MS)"/>
                <a:cs typeface="Calibri (MS)"/>
                <a:sym typeface="Calibri (MS)"/>
              </a:rPr>
              <a:t>Working prototype code - public GitHub repo: Y (https://github.com/Asleshita/prism-troubleshoot) README with reproducible setup instructions: Y Demo video, max 5 minutes: [YOUR VIDEO LINK HERE] Presentation file (PPT or PDF): 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2128" y="681609"/>
            <a:ext cx="17303744" cy="9048750"/>
          </a:xfrm>
          <a:custGeom>
            <a:avLst/>
            <a:gdLst/>
            <a:ahLst/>
            <a:cxnLst/>
            <a:rect r="r" b="b" t="t" l="l"/>
            <a:pathLst>
              <a:path h="9048750" w="17303744">
                <a:moveTo>
                  <a:pt x="0" y="0"/>
                </a:moveTo>
                <a:lnTo>
                  <a:pt x="17303744" y="0"/>
                </a:lnTo>
                <a:lnTo>
                  <a:pt x="17303744" y="9048750"/>
                </a:lnTo>
                <a:lnTo>
                  <a:pt x="0" y="9048750"/>
                </a:lnTo>
                <a:lnTo>
                  <a:pt x="0" y="0"/>
                </a:lnTo>
                <a:close/>
              </a:path>
            </a:pathLst>
          </a:custGeom>
          <a:blipFill>
            <a:blip r:embed="rId2">
              <a:extLst>
                <a:ext uri="{96DAC541-7B7A-43D3-8B79-37D633B846F1}">
                  <asvg:svgBlip xmlns:asvg="http://schemas.microsoft.com/office/drawing/2016/SVG/main" r:embed="rId3"/>
                </a:ext>
              </a:extLst>
            </a:blip>
            <a:stretch>
              <a:fillRect l="-9" t="0" r="-9" b="0"/>
            </a:stretch>
          </a:blipFill>
        </p:spPr>
      </p:sp>
      <p:sp>
        <p:nvSpPr>
          <p:cNvPr name="TextBox 3" id="3"/>
          <p:cNvSpPr txBox="true"/>
          <p:nvPr/>
        </p:nvSpPr>
        <p:spPr>
          <a:xfrm rot="0">
            <a:off x="1569272" y="5517147"/>
            <a:ext cx="4469568" cy="1519190"/>
          </a:xfrm>
          <a:prstGeom prst="rect">
            <a:avLst/>
          </a:prstGeom>
        </p:spPr>
        <p:txBody>
          <a:bodyPr anchor="t" rtlCol="false" tIns="0" lIns="0" bIns="0" rIns="0">
            <a:spAutoFit/>
          </a:bodyPr>
          <a:lstStyle/>
          <a:p>
            <a:pPr algn="l">
              <a:lnSpc>
                <a:spcPts val="9660"/>
              </a:lnSpc>
            </a:pPr>
            <a:r>
              <a:rPr lang="en-US" sz="6900" b="true">
                <a:solidFill>
                  <a:srgbClr val="14142B"/>
                </a:solidFill>
                <a:latin typeface="Arial Bold"/>
                <a:ea typeface="Arial Bold"/>
                <a:cs typeface="Arial Bold"/>
                <a:sym typeface="Arial Bold"/>
              </a:rPr>
              <a:t>Thank you</a:t>
            </a:r>
          </a:p>
        </p:txBody>
      </p:sp>
      <p:sp>
        <p:nvSpPr>
          <p:cNvPr name="TextBox 4" id="4"/>
          <p:cNvSpPr txBox="true"/>
          <p:nvPr/>
        </p:nvSpPr>
        <p:spPr>
          <a:xfrm rot="0">
            <a:off x="1165860" y="8763476"/>
            <a:ext cx="7549086" cy="441007"/>
          </a:xfrm>
          <a:prstGeom prst="rect">
            <a:avLst/>
          </a:prstGeom>
        </p:spPr>
        <p:txBody>
          <a:bodyPr anchor="t" rtlCol="false" tIns="0" lIns="0" bIns="0" rIns="0">
            <a:spAutoFit/>
          </a:bodyPr>
          <a:lstStyle/>
          <a:p>
            <a:pPr algn="l">
              <a:lnSpc>
                <a:spcPts val="2310"/>
              </a:lnSpc>
            </a:pPr>
            <a:r>
              <a:rPr lang="en-US" sz="1650">
                <a:solidFill>
                  <a:srgbClr val="63637E"/>
                </a:solidFill>
                <a:latin typeface="Calibri (MS)"/>
                <a:ea typeface="Calibri (MS)"/>
                <a:cs typeface="Calibri (MS)"/>
                <a:sym typeface="Calibri (MS)"/>
              </a:rPr>
              <a:t>Organised by the Language AI Team and the PRISM Team, Samsung R&amp;D Institute India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DAHWsjkWWNE</dc:identifier>
  <dcterms:modified xsi:type="dcterms:W3CDTF">2011-08-01T06:04:30Z</dcterms:modified>
  <cp:revision>1</cp:revision>
  <dc:title>DOC-20261001-WA0003.pptx</dc:title>
</cp:coreProperties>
</file>